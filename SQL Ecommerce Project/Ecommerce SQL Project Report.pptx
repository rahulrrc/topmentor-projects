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72" r:id="rId3"/>
    <p:sldId id="257" r:id="rId4"/>
    <p:sldId id="271" r:id="rId5"/>
    <p:sldId id="259" r:id="rId6"/>
    <p:sldId id="260" r:id="rId7"/>
    <p:sldId id="261" r:id="rId8"/>
    <p:sldId id="262" r:id="rId9"/>
    <p:sldId id="263" r:id="rId10"/>
    <p:sldId id="264" r:id="rId11"/>
    <p:sldId id="265" r:id="rId12"/>
    <p:sldId id="266" r:id="rId13"/>
    <p:sldId id="267" r:id="rId14"/>
    <p:sldId id="268" r:id="rId15"/>
    <p:sldId id="274" r:id="rId16"/>
    <p:sldId id="270"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6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2C1878-7C21-43C6-A95E-DDF58D9DB8FC}" type="datetimeFigureOut">
              <a:rPr lang="en-IN" smtClean="0"/>
              <a:t>23-06-2026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76757F-5B03-4190-97DC-A510A897D57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552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2C1878-7C21-43C6-A95E-DDF58D9DB8FC}" type="datetimeFigureOut">
              <a:rPr lang="en-IN" smtClean="0"/>
              <a:t>23-06-2026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76757F-5B03-4190-97DC-A510A897D57E}" type="slidenum">
              <a:rPr lang="en-IN" smtClean="0"/>
              <a:t>‹#›</a:t>
            </a:fld>
            <a:endParaRPr lang="en-IN"/>
          </a:p>
        </p:txBody>
      </p:sp>
    </p:spTree>
    <p:extLst>
      <p:ext uri="{BB962C8B-B14F-4D97-AF65-F5344CB8AC3E}">
        <p14:creationId xmlns:p14="http://schemas.microsoft.com/office/powerpoint/2010/main" val="1567386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2C1878-7C21-43C6-A95E-DDF58D9DB8FC}" type="datetimeFigureOut">
              <a:rPr lang="en-IN" smtClean="0"/>
              <a:t>23-06-2026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76757F-5B03-4190-97DC-A510A897D57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683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2C1878-7C21-43C6-A95E-DDF58D9DB8FC}" type="datetimeFigureOut">
              <a:rPr lang="en-IN" smtClean="0"/>
              <a:t>23-06-2026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76757F-5B03-4190-97DC-A510A897D57E}" type="slidenum">
              <a:rPr lang="en-IN" smtClean="0"/>
              <a:t>‹#›</a:t>
            </a:fld>
            <a:endParaRPr lang="en-IN"/>
          </a:p>
        </p:txBody>
      </p:sp>
    </p:spTree>
    <p:extLst>
      <p:ext uri="{BB962C8B-B14F-4D97-AF65-F5344CB8AC3E}">
        <p14:creationId xmlns:p14="http://schemas.microsoft.com/office/powerpoint/2010/main" val="154045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2C1878-7C21-43C6-A95E-DDF58D9DB8FC}" type="datetimeFigureOut">
              <a:rPr lang="en-IN" smtClean="0"/>
              <a:t>23-06-2026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A76757F-5B03-4190-97DC-A510A897D57E}" type="slidenum">
              <a:rPr lang="en-IN" smtClean="0"/>
              <a:t>‹#›</a:t>
            </a:fld>
            <a:endParaRPr lang="en-IN"/>
          </a:p>
        </p:txBody>
      </p:sp>
    </p:spTree>
    <p:extLst>
      <p:ext uri="{BB962C8B-B14F-4D97-AF65-F5344CB8AC3E}">
        <p14:creationId xmlns:p14="http://schemas.microsoft.com/office/powerpoint/2010/main" val="3133901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2C1878-7C21-43C6-A95E-DDF58D9DB8FC}" type="datetimeFigureOut">
              <a:rPr lang="en-IN" smtClean="0"/>
              <a:t>23-06-2026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A76757F-5B03-4190-97DC-A510A897D57E}" type="slidenum">
              <a:rPr lang="en-IN" smtClean="0"/>
              <a:t>‹#›</a:t>
            </a:fld>
            <a:endParaRPr lang="en-IN"/>
          </a:p>
        </p:txBody>
      </p:sp>
    </p:spTree>
    <p:extLst>
      <p:ext uri="{BB962C8B-B14F-4D97-AF65-F5344CB8AC3E}">
        <p14:creationId xmlns:p14="http://schemas.microsoft.com/office/powerpoint/2010/main" val="3991418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82C1878-7C21-43C6-A95E-DDF58D9DB8FC}" type="datetimeFigureOut">
              <a:rPr lang="en-IN" smtClean="0"/>
              <a:t>23-06-2026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BA76757F-5B03-4190-97DC-A510A897D57E}" type="slidenum">
              <a:rPr lang="en-IN" smtClean="0"/>
              <a:t>‹#›</a:t>
            </a:fld>
            <a:endParaRPr lang="en-IN"/>
          </a:p>
        </p:txBody>
      </p:sp>
    </p:spTree>
    <p:extLst>
      <p:ext uri="{BB962C8B-B14F-4D97-AF65-F5344CB8AC3E}">
        <p14:creationId xmlns:p14="http://schemas.microsoft.com/office/powerpoint/2010/main" val="2188171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82C1878-7C21-43C6-A95E-DDF58D9DB8FC}" type="datetimeFigureOut">
              <a:rPr lang="en-IN" smtClean="0"/>
              <a:t>23-06-2026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A76757F-5B03-4190-97DC-A510A897D57E}" type="slidenum">
              <a:rPr lang="en-IN" smtClean="0"/>
              <a:t>‹#›</a:t>
            </a:fld>
            <a:endParaRPr lang="en-IN"/>
          </a:p>
        </p:txBody>
      </p:sp>
    </p:spTree>
    <p:extLst>
      <p:ext uri="{BB962C8B-B14F-4D97-AF65-F5344CB8AC3E}">
        <p14:creationId xmlns:p14="http://schemas.microsoft.com/office/powerpoint/2010/main" val="4166454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2C1878-7C21-43C6-A95E-DDF58D9DB8FC}" type="datetimeFigureOut">
              <a:rPr lang="en-IN" smtClean="0"/>
              <a:t>23-06-2026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76757F-5B03-4190-97DC-A510A897D57E}" type="slidenum">
              <a:rPr lang="en-IN" smtClean="0"/>
              <a:t>‹#›</a:t>
            </a:fld>
            <a:endParaRPr lang="en-IN"/>
          </a:p>
        </p:txBody>
      </p:sp>
    </p:spTree>
    <p:extLst>
      <p:ext uri="{BB962C8B-B14F-4D97-AF65-F5344CB8AC3E}">
        <p14:creationId xmlns:p14="http://schemas.microsoft.com/office/powerpoint/2010/main" val="2729232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2C1878-7C21-43C6-A95E-DDF58D9DB8FC}" type="datetimeFigureOut">
              <a:rPr lang="en-IN" smtClean="0"/>
              <a:t>23-06-2026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76757F-5B03-4190-97DC-A510A897D57E}" type="slidenum">
              <a:rPr lang="en-IN" smtClean="0"/>
              <a:t>‹#›</a:t>
            </a:fld>
            <a:endParaRPr lang="en-IN"/>
          </a:p>
        </p:txBody>
      </p:sp>
    </p:spTree>
    <p:extLst>
      <p:ext uri="{BB962C8B-B14F-4D97-AF65-F5344CB8AC3E}">
        <p14:creationId xmlns:p14="http://schemas.microsoft.com/office/powerpoint/2010/main" val="3876312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2C1878-7C21-43C6-A95E-DDF58D9DB8FC}" type="datetimeFigureOut">
              <a:rPr lang="en-IN" smtClean="0"/>
              <a:t>23-06-2026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76757F-5B03-4190-97DC-A510A897D57E}" type="slidenum">
              <a:rPr lang="en-IN" smtClean="0"/>
              <a:t>‹#›</a:t>
            </a:fld>
            <a:endParaRPr lang="en-IN"/>
          </a:p>
        </p:txBody>
      </p:sp>
    </p:spTree>
    <p:extLst>
      <p:ext uri="{BB962C8B-B14F-4D97-AF65-F5344CB8AC3E}">
        <p14:creationId xmlns:p14="http://schemas.microsoft.com/office/powerpoint/2010/main" val="1357313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82C1878-7C21-43C6-A95E-DDF58D9DB8FC}" type="datetimeFigureOut">
              <a:rPr lang="en-IN" smtClean="0"/>
              <a:t>23-06-2026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A76757F-5B03-4190-97DC-A510A897D57E}"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296811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786C-6F5E-1643-71EE-ABBB2BFA34EA}"/>
              </a:ext>
            </a:extLst>
          </p:cNvPr>
          <p:cNvSpPr>
            <a:spLocks noGrp="1"/>
          </p:cNvSpPr>
          <p:nvPr>
            <p:ph type="ctrTitle"/>
          </p:nvPr>
        </p:nvSpPr>
        <p:spPr/>
        <p:txBody>
          <a:bodyPr/>
          <a:lstStyle/>
          <a:p>
            <a:r>
              <a:rPr lang="en-GB" dirty="0"/>
              <a:t>E-Commerce Sales Analysis Using SQL</a:t>
            </a:r>
            <a:endParaRPr lang="en-IN" dirty="0"/>
          </a:p>
        </p:txBody>
      </p:sp>
      <p:sp>
        <p:nvSpPr>
          <p:cNvPr id="3" name="Subtitle 2">
            <a:extLst>
              <a:ext uri="{FF2B5EF4-FFF2-40B4-BE49-F238E27FC236}">
                <a16:creationId xmlns:a16="http://schemas.microsoft.com/office/drawing/2014/main" id="{2932479A-5839-A08A-9E75-167D88D04D90}"/>
              </a:ext>
            </a:extLst>
          </p:cNvPr>
          <p:cNvSpPr>
            <a:spLocks noGrp="1"/>
          </p:cNvSpPr>
          <p:nvPr>
            <p:ph type="subTitle" idx="1"/>
          </p:nvPr>
        </p:nvSpPr>
        <p:spPr>
          <a:xfrm>
            <a:off x="8499231" y="4821233"/>
            <a:ext cx="2656449" cy="1277815"/>
          </a:xfrm>
        </p:spPr>
        <p:txBody>
          <a:bodyPr>
            <a:normAutofit fontScale="62500" lnSpcReduction="20000"/>
          </a:bodyPr>
          <a:lstStyle/>
          <a:p>
            <a:br>
              <a:rPr lang="en-GB" dirty="0"/>
            </a:br>
            <a:br>
              <a:rPr lang="en-GB" dirty="0"/>
            </a:br>
            <a:r>
              <a:rPr lang="en-GB" dirty="0"/>
              <a:t>prepared BY-</a:t>
            </a:r>
            <a:br>
              <a:rPr lang="en-GB" dirty="0"/>
            </a:br>
            <a:br>
              <a:rPr lang="en-GB" dirty="0"/>
            </a:br>
            <a:r>
              <a:rPr lang="en-GB" dirty="0"/>
              <a:t>RAHUL M RAMCHANDANI</a:t>
            </a:r>
          </a:p>
          <a:p>
            <a:r>
              <a:rPr lang="en-GB" dirty="0"/>
              <a:t>COHORT-146</a:t>
            </a:r>
            <a:endParaRPr lang="en-IN" dirty="0"/>
          </a:p>
        </p:txBody>
      </p:sp>
    </p:spTree>
    <p:extLst>
      <p:ext uri="{BB962C8B-B14F-4D97-AF65-F5344CB8AC3E}">
        <p14:creationId xmlns:p14="http://schemas.microsoft.com/office/powerpoint/2010/main" val="197678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F5E70-0529-A50E-F387-9A22D99A0683}"/>
              </a:ext>
            </a:extLst>
          </p:cNvPr>
          <p:cNvSpPr>
            <a:spLocks noGrp="1"/>
          </p:cNvSpPr>
          <p:nvPr>
            <p:ph type="title"/>
          </p:nvPr>
        </p:nvSpPr>
        <p:spPr/>
        <p:txBody>
          <a:bodyPr/>
          <a:lstStyle/>
          <a:p>
            <a:r>
              <a:rPr lang="en-GB" dirty="0"/>
              <a:t>Table of Contents</a:t>
            </a:r>
            <a:endParaRPr lang="en-IN" dirty="0"/>
          </a:p>
        </p:txBody>
      </p:sp>
      <p:sp>
        <p:nvSpPr>
          <p:cNvPr id="3" name="Content Placeholder 2">
            <a:extLst>
              <a:ext uri="{FF2B5EF4-FFF2-40B4-BE49-F238E27FC236}">
                <a16:creationId xmlns:a16="http://schemas.microsoft.com/office/drawing/2014/main" id="{5EDC6DC5-F7F7-CBC8-75C8-EE0090430BF0}"/>
              </a:ext>
            </a:extLst>
          </p:cNvPr>
          <p:cNvSpPr>
            <a:spLocks noGrp="1"/>
          </p:cNvSpPr>
          <p:nvPr>
            <p:ph idx="1"/>
          </p:nvPr>
        </p:nvSpPr>
        <p:spPr>
          <a:xfrm>
            <a:off x="1191064" y="1834011"/>
            <a:ext cx="10058400" cy="4023360"/>
          </a:xfrm>
        </p:spPr>
        <p:txBody>
          <a:bodyPr>
            <a:normAutofit fontScale="92500" lnSpcReduction="20000"/>
          </a:bodyPr>
          <a:lstStyle/>
          <a:p>
            <a:pPr marL="457200" indent="-457200">
              <a:buFont typeface="+mj-lt"/>
              <a:buAutoNum type="arabicPeriod"/>
            </a:pPr>
            <a:r>
              <a:rPr lang="en-GB" dirty="0"/>
              <a:t>Objective</a:t>
            </a:r>
          </a:p>
          <a:p>
            <a:pPr marL="457200" indent="-457200">
              <a:buFont typeface="+mj-lt"/>
              <a:buAutoNum type="arabicPeriod"/>
            </a:pPr>
            <a:r>
              <a:rPr lang="en-IN" dirty="0"/>
              <a:t>General Sales Insights</a:t>
            </a:r>
          </a:p>
          <a:p>
            <a:pPr marL="457200" indent="-457200">
              <a:buFont typeface="+mj-lt"/>
              <a:buAutoNum type="arabicPeriod"/>
            </a:pPr>
            <a:r>
              <a:rPr lang="en-IN" dirty="0"/>
              <a:t>Revenue Trend Analysis</a:t>
            </a:r>
          </a:p>
          <a:p>
            <a:pPr marL="457200" indent="-457200">
              <a:buFont typeface="+mj-lt"/>
              <a:buAutoNum type="arabicPeriod"/>
            </a:pPr>
            <a:r>
              <a:rPr lang="en-IN" dirty="0"/>
              <a:t>Product Category Analysis</a:t>
            </a:r>
          </a:p>
          <a:p>
            <a:pPr marL="457200" indent="-457200">
              <a:buFont typeface="+mj-lt"/>
              <a:buAutoNum type="arabicPeriod"/>
            </a:pPr>
            <a:r>
              <a:rPr lang="en-IN" dirty="0"/>
              <a:t>Regional Analysis</a:t>
            </a:r>
          </a:p>
          <a:p>
            <a:pPr marL="457200" indent="-457200">
              <a:buFont typeface="+mj-lt"/>
              <a:buAutoNum type="arabicPeriod"/>
            </a:pPr>
            <a:r>
              <a:rPr lang="en-IN" dirty="0"/>
              <a:t>Customer Analysis</a:t>
            </a:r>
          </a:p>
          <a:p>
            <a:pPr marL="457200" indent="-457200">
              <a:buFont typeface="+mj-lt"/>
              <a:buAutoNum type="arabicPeriod"/>
            </a:pPr>
            <a:r>
              <a:rPr lang="en-IN" dirty="0"/>
              <a:t>Product Performance</a:t>
            </a:r>
          </a:p>
          <a:p>
            <a:pPr marL="457200" indent="-457200">
              <a:buFont typeface="+mj-lt"/>
              <a:buAutoNum type="arabicPeriod"/>
            </a:pPr>
            <a:r>
              <a:rPr lang="en-IN" dirty="0"/>
              <a:t>Return &amp; Refund Analysis</a:t>
            </a:r>
          </a:p>
          <a:p>
            <a:pPr marL="457200" indent="-457200">
              <a:buFont typeface="+mj-lt"/>
              <a:buAutoNum type="arabicPeriod"/>
            </a:pPr>
            <a:r>
              <a:rPr lang="en-IN" dirty="0"/>
              <a:t>Key Learnings from the Project</a:t>
            </a:r>
          </a:p>
          <a:p>
            <a:pPr marL="457200" indent="-457200">
              <a:buFont typeface="+mj-lt"/>
              <a:buAutoNum type="arabicPeriod"/>
            </a:pPr>
            <a:r>
              <a:rPr lang="en-IN" dirty="0"/>
              <a:t>Conclusion &amp; Recommendations</a:t>
            </a:r>
          </a:p>
          <a:p>
            <a:pPr marL="457200" indent="-457200">
              <a:buFont typeface="+mj-lt"/>
              <a:buAutoNum type="arabicPeriod"/>
            </a:pPr>
            <a:endParaRPr lang="en-IN" dirty="0"/>
          </a:p>
          <a:p>
            <a:pPr marL="457200" indent="-457200">
              <a:buFont typeface="+mj-lt"/>
              <a:buAutoNum type="arabicPeriod"/>
            </a:pPr>
            <a:endParaRPr lang="en-IN" dirty="0"/>
          </a:p>
          <a:p>
            <a:pPr marL="457200" indent="-457200">
              <a:buFont typeface="+mj-lt"/>
              <a:buAutoNum type="arabicPeriod"/>
            </a:pPr>
            <a:endParaRPr lang="en-GB" dirty="0"/>
          </a:p>
          <a:p>
            <a:pPr marL="457200" indent="-457200">
              <a:buFont typeface="+mj-lt"/>
              <a:buAutoNum type="arabicPeriod"/>
            </a:pPr>
            <a:endParaRPr lang="en-GB" dirty="0"/>
          </a:p>
          <a:p>
            <a:pPr marL="0" indent="0">
              <a:buNone/>
            </a:pPr>
            <a:endParaRPr lang="en-GB" dirty="0"/>
          </a:p>
        </p:txBody>
      </p:sp>
    </p:spTree>
    <p:extLst>
      <p:ext uri="{BB962C8B-B14F-4D97-AF65-F5344CB8AC3E}">
        <p14:creationId xmlns:p14="http://schemas.microsoft.com/office/powerpoint/2010/main" val="1948682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8454D-B123-61A0-BA5B-82D168D5EB0B}"/>
              </a:ext>
            </a:extLst>
          </p:cNvPr>
          <p:cNvSpPr>
            <a:spLocks noGrp="1"/>
          </p:cNvSpPr>
          <p:nvPr>
            <p:ph type="title"/>
          </p:nvPr>
        </p:nvSpPr>
        <p:spPr/>
        <p:txBody>
          <a:bodyPr/>
          <a:lstStyle/>
          <a:p>
            <a:pPr algn="ctr"/>
            <a:r>
              <a:rPr lang="en-GB" dirty="0"/>
              <a:t>OBJECTIVE</a:t>
            </a:r>
            <a:endParaRPr lang="en-IN" dirty="0"/>
          </a:p>
        </p:txBody>
      </p:sp>
      <p:sp>
        <p:nvSpPr>
          <p:cNvPr id="3" name="Content Placeholder 2">
            <a:extLst>
              <a:ext uri="{FF2B5EF4-FFF2-40B4-BE49-F238E27FC236}">
                <a16:creationId xmlns:a16="http://schemas.microsoft.com/office/drawing/2014/main" id="{4F799159-7CE4-2B94-E8F7-F429A1DFBA57}"/>
              </a:ext>
            </a:extLst>
          </p:cNvPr>
          <p:cNvSpPr>
            <a:spLocks noGrp="1"/>
          </p:cNvSpPr>
          <p:nvPr>
            <p:ph idx="1"/>
          </p:nvPr>
        </p:nvSpPr>
        <p:spPr>
          <a:xfrm>
            <a:off x="1097280" y="2045026"/>
            <a:ext cx="10058400" cy="4023360"/>
          </a:xfrm>
        </p:spPr>
        <p:txBody>
          <a:bodyPr/>
          <a:lstStyle/>
          <a:p>
            <a:r>
              <a:rPr lang="en-GB" sz="2000" dirty="0"/>
              <a:t>The objective of this project is to analyse the sales performance of an e-commerce business using SQL. The analysis focuses on revenue generation, customer behavior, product performance, regional trends, and return patterns to identify key business insights and opportunities for improvement.</a:t>
            </a:r>
          </a:p>
          <a:p>
            <a:r>
              <a:rPr lang="en-GB" b="1" dirty="0"/>
              <a:t>Database Tables Used:</a:t>
            </a:r>
          </a:p>
          <a:p>
            <a:pPr>
              <a:buFont typeface="Arial" panose="020B0604020202020204" pitchFamily="34" charset="0"/>
              <a:buChar char="•"/>
            </a:pPr>
            <a:r>
              <a:rPr lang="en-GB" dirty="0"/>
              <a:t> Customers </a:t>
            </a:r>
          </a:p>
          <a:p>
            <a:pPr>
              <a:buFont typeface="Arial" panose="020B0604020202020204" pitchFamily="34" charset="0"/>
              <a:buChar char="•"/>
            </a:pPr>
            <a:r>
              <a:rPr lang="en-GB" dirty="0"/>
              <a:t> Products </a:t>
            </a:r>
          </a:p>
          <a:p>
            <a:pPr>
              <a:buFont typeface="Arial" panose="020B0604020202020204" pitchFamily="34" charset="0"/>
              <a:buChar char="•"/>
            </a:pPr>
            <a:r>
              <a:rPr lang="en-GB" dirty="0"/>
              <a:t> Orders </a:t>
            </a:r>
          </a:p>
          <a:p>
            <a:pPr>
              <a:buFont typeface="Arial" panose="020B0604020202020204" pitchFamily="34" charset="0"/>
              <a:buChar char="•"/>
            </a:pPr>
            <a:r>
              <a:rPr lang="en-GB" dirty="0"/>
              <a:t> </a:t>
            </a:r>
            <a:r>
              <a:rPr lang="en-GB" dirty="0" err="1"/>
              <a:t>OrderDetails</a:t>
            </a:r>
            <a:r>
              <a:rPr lang="en-GB" dirty="0"/>
              <a:t> </a:t>
            </a:r>
          </a:p>
          <a:p>
            <a:pPr>
              <a:buFont typeface="Arial" panose="020B0604020202020204" pitchFamily="34" charset="0"/>
              <a:buChar char="•"/>
            </a:pPr>
            <a:r>
              <a:rPr lang="en-GB" dirty="0"/>
              <a:t> Regions</a:t>
            </a:r>
          </a:p>
        </p:txBody>
      </p:sp>
    </p:spTree>
    <p:extLst>
      <p:ext uri="{BB962C8B-B14F-4D97-AF65-F5344CB8AC3E}">
        <p14:creationId xmlns:p14="http://schemas.microsoft.com/office/powerpoint/2010/main" val="1208347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736EC-F4BE-E580-0533-914ECEE30D87}"/>
              </a:ext>
            </a:extLst>
          </p:cNvPr>
          <p:cNvSpPr>
            <a:spLocks noGrp="1"/>
          </p:cNvSpPr>
          <p:nvPr>
            <p:ph type="title"/>
          </p:nvPr>
        </p:nvSpPr>
        <p:spPr/>
        <p:txBody>
          <a:bodyPr/>
          <a:lstStyle/>
          <a:p>
            <a:pPr algn="ctr"/>
            <a:r>
              <a:rPr lang="en-IN" dirty="0"/>
              <a:t>General Sales Insights</a:t>
            </a:r>
          </a:p>
        </p:txBody>
      </p:sp>
      <p:sp>
        <p:nvSpPr>
          <p:cNvPr id="3" name="Content Placeholder 2">
            <a:extLst>
              <a:ext uri="{FF2B5EF4-FFF2-40B4-BE49-F238E27FC236}">
                <a16:creationId xmlns:a16="http://schemas.microsoft.com/office/drawing/2014/main" id="{331932F2-52B8-32EF-74CA-0ACF9875EF1C}"/>
              </a:ext>
            </a:extLst>
          </p:cNvPr>
          <p:cNvSpPr>
            <a:spLocks noGrp="1"/>
          </p:cNvSpPr>
          <p:nvPr>
            <p:ph idx="1"/>
          </p:nvPr>
        </p:nvSpPr>
        <p:spPr/>
        <p:txBody>
          <a:bodyPr>
            <a:normAutofit fontScale="85000" lnSpcReduction="20000"/>
          </a:bodyPr>
          <a:lstStyle/>
          <a:p>
            <a:pPr algn="ctr"/>
            <a:r>
              <a:rPr lang="en-GB" b="1" dirty="0"/>
              <a:t>Revenue Performance Overview</a:t>
            </a:r>
          </a:p>
          <a:p>
            <a:r>
              <a:rPr lang="en-GB" b="1" dirty="0"/>
              <a:t>Key Findings</a:t>
            </a:r>
          </a:p>
          <a:p>
            <a:pPr>
              <a:buFont typeface="Arial" panose="020B0604020202020204" pitchFamily="34" charset="0"/>
              <a:buChar char="•"/>
            </a:pPr>
            <a:r>
              <a:rPr lang="en-GB" dirty="0"/>
              <a:t> Total Revenue Generated: ₹240,976 </a:t>
            </a:r>
          </a:p>
          <a:p>
            <a:pPr>
              <a:buFont typeface="Arial" panose="020B0604020202020204" pitchFamily="34" charset="0"/>
              <a:buChar char="•"/>
            </a:pPr>
            <a:r>
              <a:rPr lang="en-GB" dirty="0"/>
              <a:t> Net Revenue (excluding returns): ₹204,959 </a:t>
            </a:r>
          </a:p>
          <a:p>
            <a:pPr>
              <a:buFont typeface="Arial" panose="020B0604020202020204" pitchFamily="34" charset="0"/>
              <a:buChar char="•"/>
            </a:pPr>
            <a:r>
              <a:rPr lang="en-GB" dirty="0"/>
              <a:t> Average Order Value (AOV): ₹3,023 </a:t>
            </a:r>
          </a:p>
          <a:p>
            <a:r>
              <a:rPr lang="en-GB" b="1" dirty="0"/>
              <a:t>Analysis</a:t>
            </a:r>
          </a:p>
          <a:p>
            <a:r>
              <a:rPr lang="en-GB" dirty="0"/>
              <a:t>The business generated more than ₹240K in sales during the analysis period. After accounting for returned orders, net revenue decreased to approximately ₹205K, indicating that product returns have a noticeable impact on overall profitability. The average order value of over ₹3,000 suggests that customers generally place relatively high-value orders.</a:t>
            </a:r>
          </a:p>
          <a:p>
            <a:r>
              <a:rPr lang="en-GB" b="1" dirty="0"/>
              <a:t>Insight</a:t>
            </a:r>
          </a:p>
          <a:p>
            <a:r>
              <a:rPr lang="en-GB" dirty="0"/>
              <a:t>The company has established a strong revenue base, but reducing returns could significantly improve overall profitability.</a:t>
            </a:r>
          </a:p>
          <a:p>
            <a:endParaRPr lang="en-IN" dirty="0"/>
          </a:p>
        </p:txBody>
      </p:sp>
    </p:spTree>
    <p:extLst>
      <p:ext uri="{BB962C8B-B14F-4D97-AF65-F5344CB8AC3E}">
        <p14:creationId xmlns:p14="http://schemas.microsoft.com/office/powerpoint/2010/main" val="467144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2FE21-4B03-08D0-95A5-2F132B7FA9CC}"/>
              </a:ext>
            </a:extLst>
          </p:cNvPr>
          <p:cNvSpPr>
            <a:spLocks noGrp="1"/>
          </p:cNvSpPr>
          <p:nvPr>
            <p:ph type="title"/>
          </p:nvPr>
        </p:nvSpPr>
        <p:spPr/>
        <p:txBody>
          <a:bodyPr/>
          <a:lstStyle/>
          <a:p>
            <a:pPr algn="ctr"/>
            <a:r>
              <a:rPr lang="en-GB" dirty="0"/>
              <a:t>Monthly Revenue &amp; Sales Trend Analysis</a:t>
            </a:r>
            <a:endParaRPr lang="en-IN" dirty="0"/>
          </a:p>
        </p:txBody>
      </p:sp>
      <p:sp>
        <p:nvSpPr>
          <p:cNvPr id="3" name="Content Placeholder 2">
            <a:extLst>
              <a:ext uri="{FF2B5EF4-FFF2-40B4-BE49-F238E27FC236}">
                <a16:creationId xmlns:a16="http://schemas.microsoft.com/office/drawing/2014/main" id="{0BE2FDE4-954D-486F-25D1-EB9D91A951D1}"/>
              </a:ext>
            </a:extLst>
          </p:cNvPr>
          <p:cNvSpPr>
            <a:spLocks noGrp="1"/>
          </p:cNvSpPr>
          <p:nvPr>
            <p:ph idx="1"/>
          </p:nvPr>
        </p:nvSpPr>
        <p:spPr/>
        <p:txBody>
          <a:bodyPr>
            <a:normAutofit fontScale="92500" lnSpcReduction="20000"/>
          </a:bodyPr>
          <a:lstStyle/>
          <a:p>
            <a:pPr algn="ctr"/>
            <a:r>
              <a:rPr lang="en-GB" b="1" dirty="0"/>
              <a:t>How Sales Changed Over Time</a:t>
            </a:r>
          </a:p>
          <a:p>
            <a:r>
              <a:rPr lang="en-GB" b="1" dirty="0"/>
              <a:t>Key Findings</a:t>
            </a:r>
          </a:p>
          <a:p>
            <a:pPr>
              <a:buFont typeface="Arial" panose="020B0604020202020204" pitchFamily="34" charset="0"/>
              <a:buChar char="•"/>
            </a:pPr>
            <a:r>
              <a:rPr lang="en-GB" dirty="0"/>
              <a:t> Revenue increased steadily throughout the analysed period. </a:t>
            </a:r>
          </a:p>
          <a:p>
            <a:pPr>
              <a:buFont typeface="Arial" panose="020B0604020202020204" pitchFamily="34" charset="0"/>
              <a:buChar char="•"/>
            </a:pPr>
            <a:r>
              <a:rPr lang="en-GB" dirty="0"/>
              <a:t> The highest revenue was recorded during early 2025. </a:t>
            </a:r>
          </a:p>
          <a:p>
            <a:pPr>
              <a:buFont typeface="Arial" panose="020B0604020202020204" pitchFamily="34" charset="0"/>
              <a:buChar char="•"/>
            </a:pPr>
            <a:r>
              <a:rPr lang="en-GB" dirty="0"/>
              <a:t> Monthly order volumes remained relatively consistent. </a:t>
            </a:r>
          </a:p>
          <a:p>
            <a:r>
              <a:rPr lang="en-GB" b="1" dirty="0"/>
              <a:t>Analysis</a:t>
            </a:r>
          </a:p>
          <a:p>
            <a:r>
              <a:rPr lang="en-GB" dirty="0"/>
              <a:t>The monthly sales trend indicates healthy business growth and stable customer demand. Revenue peaks suggest periods of increased purchasing activity, which may be influenced by promotions, seasonal demand, or customer purchasing behavior.</a:t>
            </a:r>
          </a:p>
          <a:p>
            <a:r>
              <a:rPr lang="en-GB" b="1" dirty="0"/>
              <a:t>Insight</a:t>
            </a:r>
          </a:p>
          <a:p>
            <a:r>
              <a:rPr lang="en-GB" dirty="0"/>
              <a:t>The business demonstrates positive sales momentum and has opportunities to further capitalize on high-performing sales periods.</a:t>
            </a:r>
          </a:p>
          <a:p>
            <a:endParaRPr lang="en-IN" dirty="0"/>
          </a:p>
        </p:txBody>
      </p:sp>
    </p:spTree>
    <p:extLst>
      <p:ext uri="{BB962C8B-B14F-4D97-AF65-F5344CB8AC3E}">
        <p14:creationId xmlns:p14="http://schemas.microsoft.com/office/powerpoint/2010/main" val="698355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85B9D-7D26-7A6D-784B-16E599EC9C82}"/>
              </a:ext>
            </a:extLst>
          </p:cNvPr>
          <p:cNvSpPr>
            <a:spLocks noGrp="1"/>
          </p:cNvSpPr>
          <p:nvPr>
            <p:ph type="title"/>
          </p:nvPr>
        </p:nvSpPr>
        <p:spPr/>
        <p:txBody>
          <a:bodyPr/>
          <a:lstStyle/>
          <a:p>
            <a:pPr algn="ctr"/>
            <a:r>
              <a:rPr lang="en-IN" dirty="0"/>
              <a:t>Revenue by Product Category</a:t>
            </a:r>
          </a:p>
        </p:txBody>
      </p:sp>
      <p:sp>
        <p:nvSpPr>
          <p:cNvPr id="3" name="Content Placeholder 2">
            <a:extLst>
              <a:ext uri="{FF2B5EF4-FFF2-40B4-BE49-F238E27FC236}">
                <a16:creationId xmlns:a16="http://schemas.microsoft.com/office/drawing/2014/main" id="{45028645-27ED-442C-D96C-324ACD9005C6}"/>
              </a:ext>
            </a:extLst>
          </p:cNvPr>
          <p:cNvSpPr>
            <a:spLocks noGrp="1"/>
          </p:cNvSpPr>
          <p:nvPr>
            <p:ph idx="1"/>
          </p:nvPr>
        </p:nvSpPr>
        <p:spPr/>
        <p:txBody>
          <a:bodyPr>
            <a:normAutofit fontScale="92500" lnSpcReduction="20000"/>
          </a:bodyPr>
          <a:lstStyle/>
          <a:p>
            <a:pPr algn="ctr"/>
            <a:r>
              <a:rPr lang="en-GB" b="1" dirty="0"/>
              <a:t>Which Categories Generate the Most Revenue?</a:t>
            </a:r>
          </a:p>
          <a:p>
            <a:r>
              <a:rPr lang="en-GB" b="1" dirty="0"/>
              <a:t>Key Findings</a:t>
            </a:r>
          </a:p>
          <a:p>
            <a:pPr>
              <a:buFont typeface="Arial" panose="020B0604020202020204" pitchFamily="34" charset="0"/>
              <a:buChar char="•"/>
            </a:pPr>
            <a:r>
              <a:rPr lang="en-GB" dirty="0"/>
              <a:t> Home category generated the highest revenue. </a:t>
            </a:r>
          </a:p>
          <a:p>
            <a:pPr>
              <a:buFont typeface="Arial" panose="020B0604020202020204" pitchFamily="34" charset="0"/>
              <a:buChar char="•"/>
            </a:pPr>
            <a:r>
              <a:rPr lang="en-GB" dirty="0"/>
              <a:t> Footwear and Electronics followed closely behind. </a:t>
            </a:r>
          </a:p>
          <a:p>
            <a:pPr>
              <a:buFont typeface="Arial" panose="020B0604020202020204" pitchFamily="34" charset="0"/>
              <a:buChar char="•"/>
            </a:pPr>
            <a:r>
              <a:rPr lang="en-GB" dirty="0"/>
              <a:t> Clothing contributed the least revenue among all categories. </a:t>
            </a:r>
          </a:p>
          <a:p>
            <a:r>
              <a:rPr lang="en-GB" b="1" dirty="0"/>
              <a:t>Analysis</a:t>
            </a:r>
          </a:p>
          <a:p>
            <a:r>
              <a:rPr lang="en-GB" dirty="0"/>
              <a:t>Customers show stronger purchasing preferences toward Home, Footwear, and Electronics products. These categories are responsible for a significant portion of total sales and act as major revenue drivers for the business.</a:t>
            </a:r>
          </a:p>
          <a:p>
            <a:r>
              <a:rPr lang="en-GB" b="1" dirty="0"/>
              <a:t>Insight</a:t>
            </a:r>
          </a:p>
          <a:p>
            <a:r>
              <a:rPr lang="en-GB" dirty="0"/>
              <a:t>Revenue is concentrated within a few key categories, making them strategically important for future growth initiatives.</a:t>
            </a:r>
          </a:p>
          <a:p>
            <a:endParaRPr lang="en-IN" dirty="0"/>
          </a:p>
        </p:txBody>
      </p:sp>
    </p:spTree>
    <p:extLst>
      <p:ext uri="{BB962C8B-B14F-4D97-AF65-F5344CB8AC3E}">
        <p14:creationId xmlns:p14="http://schemas.microsoft.com/office/powerpoint/2010/main" val="2788618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DF90F-AD30-5B8C-98BA-4D414CF77F76}"/>
              </a:ext>
            </a:extLst>
          </p:cNvPr>
          <p:cNvSpPr>
            <a:spLocks noGrp="1"/>
          </p:cNvSpPr>
          <p:nvPr>
            <p:ph type="title"/>
          </p:nvPr>
        </p:nvSpPr>
        <p:spPr/>
        <p:txBody>
          <a:bodyPr/>
          <a:lstStyle/>
          <a:p>
            <a:pPr algn="ctr"/>
            <a:r>
              <a:rPr lang="en-IN" dirty="0"/>
              <a:t>Regional Order Size Analysis</a:t>
            </a:r>
          </a:p>
        </p:txBody>
      </p:sp>
      <p:sp>
        <p:nvSpPr>
          <p:cNvPr id="3" name="Content Placeholder 2">
            <a:extLst>
              <a:ext uri="{FF2B5EF4-FFF2-40B4-BE49-F238E27FC236}">
                <a16:creationId xmlns:a16="http://schemas.microsoft.com/office/drawing/2014/main" id="{E9365593-7C0A-32FF-F7EF-9F22D252C2FA}"/>
              </a:ext>
            </a:extLst>
          </p:cNvPr>
          <p:cNvSpPr>
            <a:spLocks noGrp="1"/>
          </p:cNvSpPr>
          <p:nvPr>
            <p:ph idx="1"/>
          </p:nvPr>
        </p:nvSpPr>
        <p:spPr/>
        <p:txBody>
          <a:bodyPr>
            <a:normAutofit fontScale="92500" lnSpcReduction="20000"/>
          </a:bodyPr>
          <a:lstStyle/>
          <a:p>
            <a:pPr algn="ctr"/>
            <a:r>
              <a:rPr lang="en-GB" b="1" dirty="0"/>
              <a:t>Average Order Size by Region</a:t>
            </a:r>
          </a:p>
          <a:p>
            <a:r>
              <a:rPr lang="en-GB" b="1" dirty="0"/>
              <a:t>Key Findings</a:t>
            </a:r>
          </a:p>
          <a:p>
            <a:pPr>
              <a:buFont typeface="Arial" panose="020B0604020202020204" pitchFamily="34" charset="0"/>
              <a:buChar char="•"/>
            </a:pPr>
            <a:r>
              <a:rPr lang="en-GB" dirty="0"/>
              <a:t> Asia East recorded the highest average order value. </a:t>
            </a:r>
          </a:p>
          <a:p>
            <a:pPr>
              <a:buFont typeface="Arial" panose="020B0604020202020204" pitchFamily="34" charset="0"/>
              <a:buChar char="•"/>
            </a:pPr>
            <a:r>
              <a:rPr lang="en-GB" dirty="0"/>
              <a:t> Asia North and Europe West also performed strongly. </a:t>
            </a:r>
          </a:p>
          <a:p>
            <a:pPr>
              <a:buFont typeface="Arial" panose="020B0604020202020204" pitchFamily="34" charset="0"/>
              <a:buChar char="•"/>
            </a:pPr>
            <a:r>
              <a:rPr lang="en-GB" dirty="0"/>
              <a:t> Middle East showed the lowest average order value. </a:t>
            </a:r>
          </a:p>
          <a:p>
            <a:r>
              <a:rPr lang="en-GB" b="1" dirty="0"/>
              <a:t>Analysis</a:t>
            </a:r>
          </a:p>
          <a:p>
            <a:r>
              <a:rPr lang="en-GB" dirty="0"/>
              <a:t>Customer spending behavior varies considerably across regions. Customers in Asia East tend to purchase either higher-priced products or larger quantities per order compared to other regions.</a:t>
            </a:r>
          </a:p>
          <a:p>
            <a:r>
              <a:rPr lang="en-GB" b="1" dirty="0"/>
              <a:t>Insight</a:t>
            </a:r>
          </a:p>
          <a:p>
            <a:r>
              <a:rPr lang="en-GB" dirty="0"/>
              <a:t>Regional purchasing patterns should be considered when planning pricing, promotions, and product offerings.</a:t>
            </a:r>
          </a:p>
          <a:p>
            <a:endParaRPr lang="en-IN" dirty="0"/>
          </a:p>
        </p:txBody>
      </p:sp>
    </p:spTree>
    <p:extLst>
      <p:ext uri="{BB962C8B-B14F-4D97-AF65-F5344CB8AC3E}">
        <p14:creationId xmlns:p14="http://schemas.microsoft.com/office/powerpoint/2010/main" val="2108292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B7E29-EEB0-97D8-BB1E-72E71DEEB5A9}"/>
              </a:ext>
            </a:extLst>
          </p:cNvPr>
          <p:cNvSpPr>
            <a:spLocks noGrp="1"/>
          </p:cNvSpPr>
          <p:nvPr>
            <p:ph type="title"/>
          </p:nvPr>
        </p:nvSpPr>
        <p:spPr/>
        <p:txBody>
          <a:bodyPr/>
          <a:lstStyle/>
          <a:p>
            <a:pPr algn="ctr"/>
            <a:r>
              <a:rPr lang="en-IN" dirty="0"/>
              <a:t>Customer Insights</a:t>
            </a:r>
          </a:p>
        </p:txBody>
      </p:sp>
      <p:sp>
        <p:nvSpPr>
          <p:cNvPr id="3" name="Content Placeholder 2">
            <a:extLst>
              <a:ext uri="{FF2B5EF4-FFF2-40B4-BE49-F238E27FC236}">
                <a16:creationId xmlns:a16="http://schemas.microsoft.com/office/drawing/2014/main" id="{98E5902C-2169-83C2-4E35-B063DDC2EBBD}"/>
              </a:ext>
            </a:extLst>
          </p:cNvPr>
          <p:cNvSpPr>
            <a:spLocks noGrp="1"/>
          </p:cNvSpPr>
          <p:nvPr>
            <p:ph idx="1"/>
          </p:nvPr>
        </p:nvSpPr>
        <p:spPr/>
        <p:txBody>
          <a:bodyPr>
            <a:normAutofit fontScale="92500" lnSpcReduction="10000"/>
          </a:bodyPr>
          <a:lstStyle/>
          <a:p>
            <a:pPr algn="ctr"/>
            <a:r>
              <a:rPr lang="en-GB" b="1" dirty="0"/>
              <a:t>Customer Retention &amp; Loyalty</a:t>
            </a:r>
          </a:p>
          <a:p>
            <a:r>
              <a:rPr lang="en-GB" b="1" dirty="0"/>
              <a:t>Key Findings</a:t>
            </a:r>
          </a:p>
          <a:p>
            <a:pPr>
              <a:buFont typeface="Arial" panose="020B0604020202020204" pitchFamily="34" charset="0"/>
              <a:buChar char="•"/>
            </a:pPr>
            <a:r>
              <a:rPr lang="en-GB" dirty="0"/>
              <a:t> Repeat Customer Rate: 95.5% </a:t>
            </a:r>
          </a:p>
          <a:p>
            <a:pPr>
              <a:buFont typeface="Arial" panose="020B0604020202020204" pitchFamily="34" charset="0"/>
              <a:buChar char="•"/>
            </a:pPr>
            <a:r>
              <a:rPr lang="en-GB" dirty="0"/>
              <a:t> Customer Lifetime Value (CLV): ₹1,376.73 </a:t>
            </a:r>
          </a:p>
          <a:p>
            <a:r>
              <a:rPr lang="en-GB" b="1" dirty="0"/>
              <a:t>Analysis</a:t>
            </a:r>
          </a:p>
          <a:p>
            <a:r>
              <a:rPr lang="en-GB" dirty="0"/>
              <a:t>The extremely high repeat customer rate indicates strong customer satisfaction and loyalty. Customers continue making purchases over time, creating substantial long-term value for the business.</a:t>
            </a:r>
          </a:p>
          <a:p>
            <a:r>
              <a:rPr lang="en-GB" b="1" dirty="0"/>
              <a:t>Insight</a:t>
            </a:r>
          </a:p>
          <a:p>
            <a:r>
              <a:rPr lang="en-GB" dirty="0"/>
              <a:t>The company has successfully built a loyal customer base, which reduces dependency on acquiring new customers.</a:t>
            </a:r>
          </a:p>
          <a:p>
            <a:endParaRPr lang="en-IN" dirty="0"/>
          </a:p>
        </p:txBody>
      </p:sp>
    </p:spTree>
    <p:extLst>
      <p:ext uri="{BB962C8B-B14F-4D97-AF65-F5344CB8AC3E}">
        <p14:creationId xmlns:p14="http://schemas.microsoft.com/office/powerpoint/2010/main" val="498513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FFC1B-2900-3CEB-0D82-5EC734A0724B}"/>
              </a:ext>
            </a:extLst>
          </p:cNvPr>
          <p:cNvSpPr>
            <a:spLocks noGrp="1"/>
          </p:cNvSpPr>
          <p:nvPr>
            <p:ph type="title"/>
          </p:nvPr>
        </p:nvSpPr>
        <p:spPr/>
        <p:txBody>
          <a:bodyPr/>
          <a:lstStyle/>
          <a:p>
            <a:pPr algn="ctr"/>
            <a:r>
              <a:rPr lang="en-IN" dirty="0"/>
              <a:t>Customer Segmentation Analysis</a:t>
            </a:r>
          </a:p>
        </p:txBody>
      </p:sp>
      <p:sp>
        <p:nvSpPr>
          <p:cNvPr id="3" name="Content Placeholder 2">
            <a:extLst>
              <a:ext uri="{FF2B5EF4-FFF2-40B4-BE49-F238E27FC236}">
                <a16:creationId xmlns:a16="http://schemas.microsoft.com/office/drawing/2014/main" id="{EBFBD18D-F42A-820C-9AA0-0F2ED3CED3D7}"/>
              </a:ext>
            </a:extLst>
          </p:cNvPr>
          <p:cNvSpPr>
            <a:spLocks noGrp="1"/>
          </p:cNvSpPr>
          <p:nvPr>
            <p:ph idx="1"/>
          </p:nvPr>
        </p:nvSpPr>
        <p:spPr/>
        <p:txBody>
          <a:bodyPr>
            <a:normAutofit fontScale="92500" lnSpcReduction="20000"/>
          </a:bodyPr>
          <a:lstStyle/>
          <a:p>
            <a:pPr algn="ctr"/>
            <a:r>
              <a:rPr lang="en-GB" b="1" dirty="0"/>
              <a:t>Understanding Customer Value</a:t>
            </a:r>
          </a:p>
          <a:p>
            <a:r>
              <a:rPr lang="en-GB" b="1" dirty="0"/>
              <a:t>Customer Segments</a:t>
            </a:r>
          </a:p>
          <a:p>
            <a:pPr>
              <a:buFont typeface="Arial" panose="020B0604020202020204" pitchFamily="34" charset="0"/>
              <a:buChar char="•"/>
            </a:pPr>
            <a:r>
              <a:rPr lang="en-GB" dirty="0"/>
              <a:t> Platinum Customers: 192 </a:t>
            </a:r>
          </a:p>
          <a:p>
            <a:pPr>
              <a:buFont typeface="Arial" panose="020B0604020202020204" pitchFamily="34" charset="0"/>
              <a:buChar char="•"/>
            </a:pPr>
            <a:r>
              <a:rPr lang="en-GB" dirty="0"/>
              <a:t> Gold Customers: 3 </a:t>
            </a:r>
          </a:p>
          <a:p>
            <a:pPr>
              <a:buFont typeface="Arial" panose="020B0604020202020204" pitchFamily="34" charset="0"/>
              <a:buChar char="•"/>
            </a:pPr>
            <a:r>
              <a:rPr lang="en-GB" dirty="0"/>
              <a:t> Bronze Customers: 5 </a:t>
            </a:r>
          </a:p>
          <a:p>
            <a:r>
              <a:rPr lang="en-GB" b="1" dirty="0"/>
              <a:t>Analysis</a:t>
            </a:r>
          </a:p>
          <a:p>
            <a:r>
              <a:rPr lang="en-GB" dirty="0"/>
              <a:t>Most customers belong to the Platinum segment, indicating that a large portion of the customer base contributes significant revenue. The business appears to attract high-value customers rather than relying heavily on low-spending customers.</a:t>
            </a:r>
          </a:p>
          <a:p>
            <a:r>
              <a:rPr lang="en-GB" b="1" dirty="0"/>
              <a:t>Insight</a:t>
            </a:r>
          </a:p>
          <a:p>
            <a:r>
              <a:rPr lang="en-GB" dirty="0"/>
              <a:t>The customer portfolio is highly valuable and contributes positively to long-term revenue stability.</a:t>
            </a:r>
          </a:p>
          <a:p>
            <a:endParaRPr lang="en-IN" dirty="0"/>
          </a:p>
        </p:txBody>
      </p:sp>
    </p:spTree>
    <p:extLst>
      <p:ext uri="{BB962C8B-B14F-4D97-AF65-F5344CB8AC3E}">
        <p14:creationId xmlns:p14="http://schemas.microsoft.com/office/powerpoint/2010/main" val="2368595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BAA5-26E5-7EB1-294A-E8C1F658CB3C}"/>
              </a:ext>
            </a:extLst>
          </p:cNvPr>
          <p:cNvSpPr>
            <a:spLocks noGrp="1"/>
          </p:cNvSpPr>
          <p:nvPr>
            <p:ph type="title"/>
          </p:nvPr>
        </p:nvSpPr>
        <p:spPr/>
        <p:txBody>
          <a:bodyPr/>
          <a:lstStyle/>
          <a:p>
            <a:pPr algn="ctr"/>
            <a:r>
              <a:rPr lang="en-IN" dirty="0"/>
              <a:t>Top Customer Analysis</a:t>
            </a:r>
          </a:p>
        </p:txBody>
      </p:sp>
      <p:sp>
        <p:nvSpPr>
          <p:cNvPr id="3" name="Content Placeholder 2">
            <a:extLst>
              <a:ext uri="{FF2B5EF4-FFF2-40B4-BE49-F238E27FC236}">
                <a16:creationId xmlns:a16="http://schemas.microsoft.com/office/drawing/2014/main" id="{4F7C26E9-B091-0986-ABB6-89602A1F2049}"/>
              </a:ext>
            </a:extLst>
          </p:cNvPr>
          <p:cNvSpPr>
            <a:spLocks noGrp="1"/>
          </p:cNvSpPr>
          <p:nvPr>
            <p:ph idx="1"/>
          </p:nvPr>
        </p:nvSpPr>
        <p:spPr/>
        <p:txBody>
          <a:bodyPr>
            <a:normAutofit lnSpcReduction="10000"/>
          </a:bodyPr>
          <a:lstStyle/>
          <a:p>
            <a:pPr algn="ctr"/>
            <a:r>
              <a:rPr lang="en-GB" b="1" dirty="0"/>
              <a:t>Highest Revenue-Contributing Customers</a:t>
            </a:r>
          </a:p>
          <a:p>
            <a:r>
              <a:rPr lang="en-GB" b="1" dirty="0"/>
              <a:t>Key Findings</a:t>
            </a:r>
          </a:p>
          <a:p>
            <a:pPr>
              <a:buFont typeface="Arial" panose="020B0604020202020204" pitchFamily="34" charset="0"/>
              <a:buChar char="•"/>
            </a:pPr>
            <a:r>
              <a:rPr lang="en-GB" dirty="0"/>
              <a:t> The top customer generated nearly ₹47,000 in revenue. </a:t>
            </a:r>
          </a:p>
          <a:p>
            <a:pPr>
              <a:buFont typeface="Arial" panose="020B0604020202020204" pitchFamily="34" charset="0"/>
              <a:buChar char="•"/>
            </a:pPr>
            <a:r>
              <a:rPr lang="en-GB" dirty="0"/>
              <a:t> Multiple customers contributed more than ₹30,000 each. </a:t>
            </a:r>
          </a:p>
          <a:p>
            <a:r>
              <a:rPr lang="en-GB" b="1" dirty="0"/>
              <a:t>Analysis</a:t>
            </a:r>
          </a:p>
          <a:p>
            <a:r>
              <a:rPr lang="en-GB" dirty="0"/>
              <a:t>A relatively small group of customers contributes a significant share of total revenue. These customers represent important assets for the business and should be prioritized through retention strategies.</a:t>
            </a:r>
          </a:p>
          <a:p>
            <a:r>
              <a:rPr lang="en-GB" b="1" dirty="0"/>
              <a:t>Insight</a:t>
            </a:r>
          </a:p>
          <a:p>
            <a:r>
              <a:rPr lang="en-GB" dirty="0"/>
              <a:t>Retaining high-value customers can have a major impact on overall business performance.</a:t>
            </a:r>
          </a:p>
          <a:p>
            <a:endParaRPr lang="en-IN" dirty="0"/>
          </a:p>
        </p:txBody>
      </p:sp>
    </p:spTree>
    <p:extLst>
      <p:ext uri="{BB962C8B-B14F-4D97-AF65-F5344CB8AC3E}">
        <p14:creationId xmlns:p14="http://schemas.microsoft.com/office/powerpoint/2010/main" val="2049093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372CD-C302-B18A-BA80-68059CDD7334}"/>
              </a:ext>
            </a:extLst>
          </p:cNvPr>
          <p:cNvSpPr>
            <a:spLocks noGrp="1"/>
          </p:cNvSpPr>
          <p:nvPr>
            <p:ph type="title"/>
          </p:nvPr>
        </p:nvSpPr>
        <p:spPr/>
        <p:txBody>
          <a:bodyPr/>
          <a:lstStyle/>
          <a:p>
            <a:pPr algn="ctr"/>
            <a:r>
              <a:rPr lang="en-IN" dirty="0"/>
              <a:t>Product Performance Analysis</a:t>
            </a:r>
          </a:p>
        </p:txBody>
      </p:sp>
      <p:sp>
        <p:nvSpPr>
          <p:cNvPr id="3" name="Content Placeholder 2">
            <a:extLst>
              <a:ext uri="{FF2B5EF4-FFF2-40B4-BE49-F238E27FC236}">
                <a16:creationId xmlns:a16="http://schemas.microsoft.com/office/drawing/2014/main" id="{AC296FBE-8756-B1CC-A647-86D0D4DC7897}"/>
              </a:ext>
            </a:extLst>
          </p:cNvPr>
          <p:cNvSpPr>
            <a:spLocks noGrp="1"/>
          </p:cNvSpPr>
          <p:nvPr>
            <p:ph idx="1"/>
          </p:nvPr>
        </p:nvSpPr>
        <p:spPr/>
        <p:txBody>
          <a:bodyPr>
            <a:normAutofit lnSpcReduction="10000"/>
          </a:bodyPr>
          <a:lstStyle/>
          <a:p>
            <a:pPr algn="ctr"/>
            <a:r>
              <a:rPr lang="en-GB" b="1" dirty="0"/>
              <a:t>Best-Selling Products</a:t>
            </a:r>
          </a:p>
          <a:p>
            <a:r>
              <a:rPr lang="en-GB" b="1" dirty="0"/>
              <a:t>Key Findings</a:t>
            </a:r>
          </a:p>
          <a:p>
            <a:pPr>
              <a:buFont typeface="Arial" panose="020B0604020202020204" pitchFamily="34" charset="0"/>
              <a:buChar char="•"/>
            </a:pPr>
            <a:r>
              <a:rPr lang="en-GB" dirty="0"/>
              <a:t> Smartphones recorded the highest sales volume. </a:t>
            </a:r>
          </a:p>
          <a:p>
            <a:pPr>
              <a:buFont typeface="Arial" panose="020B0604020202020204" pitchFamily="34" charset="0"/>
              <a:buChar char="•"/>
            </a:pPr>
            <a:r>
              <a:rPr lang="en-GB" dirty="0"/>
              <a:t> Bags and Watches also ranked among the best-selling products. </a:t>
            </a:r>
          </a:p>
          <a:p>
            <a:pPr>
              <a:buFont typeface="Arial" panose="020B0604020202020204" pitchFamily="34" charset="0"/>
              <a:buChar char="•"/>
            </a:pPr>
            <a:r>
              <a:rPr lang="en-GB" dirty="0"/>
              <a:t> Several products generated consistently strong revenue. </a:t>
            </a:r>
          </a:p>
          <a:p>
            <a:r>
              <a:rPr lang="en-GB" b="1" dirty="0"/>
              <a:t>Analysis</a:t>
            </a:r>
          </a:p>
          <a:p>
            <a:r>
              <a:rPr lang="en-GB" dirty="0"/>
              <a:t>The best-performing products demonstrate strong market demand and customer acceptance. Maintaining inventory availability for these products is critical for sustaining sales performance.</a:t>
            </a:r>
          </a:p>
          <a:p>
            <a:r>
              <a:rPr lang="en-GB" b="1" dirty="0"/>
              <a:t>Insight</a:t>
            </a:r>
          </a:p>
          <a:p>
            <a:r>
              <a:rPr lang="en-GB" dirty="0"/>
              <a:t>A small group of products contributes disproportionately to overall sales and revenue.</a:t>
            </a:r>
          </a:p>
          <a:p>
            <a:endParaRPr lang="en-IN" dirty="0"/>
          </a:p>
        </p:txBody>
      </p:sp>
    </p:spTree>
    <p:extLst>
      <p:ext uri="{BB962C8B-B14F-4D97-AF65-F5344CB8AC3E}">
        <p14:creationId xmlns:p14="http://schemas.microsoft.com/office/powerpoint/2010/main" val="3584229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DA2B1-5AFF-A3F3-BD31-8266CADDB1F6}"/>
              </a:ext>
            </a:extLst>
          </p:cNvPr>
          <p:cNvSpPr>
            <a:spLocks noGrp="1"/>
          </p:cNvSpPr>
          <p:nvPr>
            <p:ph type="title"/>
          </p:nvPr>
        </p:nvSpPr>
        <p:spPr/>
        <p:txBody>
          <a:bodyPr/>
          <a:lstStyle/>
          <a:p>
            <a:pPr algn="ctr"/>
            <a:r>
              <a:rPr lang="en-IN" dirty="0"/>
              <a:t>Product Return Analysis</a:t>
            </a:r>
          </a:p>
        </p:txBody>
      </p:sp>
      <p:sp>
        <p:nvSpPr>
          <p:cNvPr id="3" name="Content Placeholder 2">
            <a:extLst>
              <a:ext uri="{FF2B5EF4-FFF2-40B4-BE49-F238E27FC236}">
                <a16:creationId xmlns:a16="http://schemas.microsoft.com/office/drawing/2014/main" id="{9A657DE0-A086-43A2-1926-F60618C68546}"/>
              </a:ext>
            </a:extLst>
          </p:cNvPr>
          <p:cNvSpPr>
            <a:spLocks noGrp="1"/>
          </p:cNvSpPr>
          <p:nvPr>
            <p:ph idx="1"/>
          </p:nvPr>
        </p:nvSpPr>
        <p:spPr/>
        <p:txBody>
          <a:bodyPr>
            <a:normAutofit lnSpcReduction="10000"/>
          </a:bodyPr>
          <a:lstStyle/>
          <a:p>
            <a:pPr algn="ctr"/>
            <a:r>
              <a:rPr lang="en-GB" b="1" dirty="0"/>
              <a:t>Product &amp; Category Return Performance</a:t>
            </a:r>
          </a:p>
          <a:p>
            <a:r>
              <a:rPr lang="en-GB" b="1" dirty="0"/>
              <a:t>Key Findings</a:t>
            </a:r>
          </a:p>
          <a:p>
            <a:pPr>
              <a:buFont typeface="Arial" panose="020B0604020202020204" pitchFamily="34" charset="0"/>
              <a:buChar char="•"/>
            </a:pPr>
            <a:r>
              <a:rPr lang="en-GB" dirty="0"/>
              <a:t> Footwear recorded the highest return rate. </a:t>
            </a:r>
          </a:p>
          <a:p>
            <a:pPr>
              <a:buFont typeface="Arial" panose="020B0604020202020204" pitchFamily="34" charset="0"/>
              <a:buChar char="•"/>
            </a:pPr>
            <a:r>
              <a:rPr lang="en-GB" dirty="0"/>
              <a:t> Home and Clothing categories also experienced high return percentages. </a:t>
            </a:r>
          </a:p>
          <a:p>
            <a:pPr>
              <a:buFont typeface="Arial" panose="020B0604020202020204" pitchFamily="34" charset="0"/>
              <a:buChar char="•"/>
            </a:pPr>
            <a:r>
              <a:rPr lang="en-GB" dirty="0"/>
              <a:t> Accessories recorded the lowest return rate. </a:t>
            </a:r>
          </a:p>
          <a:p>
            <a:r>
              <a:rPr lang="en-GB" b="1" dirty="0"/>
              <a:t>Analysis</a:t>
            </a:r>
          </a:p>
          <a:p>
            <a:r>
              <a:rPr lang="en-GB" dirty="0"/>
              <a:t>High return rates may indicate issues related to sizing, product quality, customer expectations, or product descriptions. Frequent returns increase operational costs and reduce profitability.</a:t>
            </a:r>
          </a:p>
          <a:p>
            <a:r>
              <a:rPr lang="en-GB" b="1" dirty="0"/>
              <a:t>Insight</a:t>
            </a:r>
          </a:p>
          <a:p>
            <a:r>
              <a:rPr lang="en-GB" dirty="0"/>
              <a:t>Reducing returns within high-return categories could generate substantial financial benefits.</a:t>
            </a:r>
          </a:p>
          <a:p>
            <a:endParaRPr lang="en-IN" dirty="0"/>
          </a:p>
        </p:txBody>
      </p:sp>
    </p:spTree>
    <p:extLst>
      <p:ext uri="{BB962C8B-B14F-4D97-AF65-F5344CB8AC3E}">
        <p14:creationId xmlns:p14="http://schemas.microsoft.com/office/powerpoint/2010/main" val="377197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DD086-9870-44BA-EC8C-E959571CCD27}"/>
              </a:ext>
            </a:extLst>
          </p:cNvPr>
          <p:cNvSpPr>
            <a:spLocks noGrp="1"/>
          </p:cNvSpPr>
          <p:nvPr>
            <p:ph type="title"/>
          </p:nvPr>
        </p:nvSpPr>
        <p:spPr/>
        <p:txBody>
          <a:bodyPr/>
          <a:lstStyle/>
          <a:p>
            <a:pPr algn="ctr"/>
            <a:r>
              <a:rPr lang="en-IN" dirty="0"/>
              <a:t>Regional Performance Analysis</a:t>
            </a:r>
          </a:p>
        </p:txBody>
      </p:sp>
      <p:sp>
        <p:nvSpPr>
          <p:cNvPr id="3" name="Content Placeholder 2">
            <a:extLst>
              <a:ext uri="{FF2B5EF4-FFF2-40B4-BE49-F238E27FC236}">
                <a16:creationId xmlns:a16="http://schemas.microsoft.com/office/drawing/2014/main" id="{5AE5513A-8D2F-A0F3-1B0D-5DCBFCC1AC13}"/>
              </a:ext>
            </a:extLst>
          </p:cNvPr>
          <p:cNvSpPr>
            <a:spLocks noGrp="1"/>
          </p:cNvSpPr>
          <p:nvPr>
            <p:ph idx="1"/>
          </p:nvPr>
        </p:nvSpPr>
        <p:spPr/>
        <p:txBody>
          <a:bodyPr>
            <a:normAutofit fontScale="92500" lnSpcReduction="20000"/>
          </a:bodyPr>
          <a:lstStyle/>
          <a:p>
            <a:pPr algn="ctr"/>
            <a:r>
              <a:rPr lang="en-GB" b="1" dirty="0"/>
              <a:t>Revenue &amp; Order Volume by Region</a:t>
            </a:r>
          </a:p>
          <a:p>
            <a:r>
              <a:rPr lang="en-GB" b="1" dirty="0"/>
              <a:t>Key Findings</a:t>
            </a:r>
          </a:p>
          <a:p>
            <a:pPr>
              <a:buFont typeface="Arial" panose="020B0604020202020204" pitchFamily="34" charset="0"/>
              <a:buChar char="•"/>
            </a:pPr>
            <a:r>
              <a:rPr lang="en-GB" dirty="0"/>
              <a:t> Asia East generated the highest revenue. </a:t>
            </a:r>
          </a:p>
          <a:p>
            <a:pPr>
              <a:buFont typeface="Arial" panose="020B0604020202020204" pitchFamily="34" charset="0"/>
              <a:buChar char="•"/>
            </a:pPr>
            <a:r>
              <a:rPr lang="en-GB" dirty="0"/>
              <a:t> Asia North and Oceania also performed strongly. </a:t>
            </a:r>
          </a:p>
          <a:p>
            <a:pPr>
              <a:buFont typeface="Arial" panose="020B0604020202020204" pitchFamily="34" charset="0"/>
              <a:buChar char="•"/>
            </a:pPr>
            <a:r>
              <a:rPr lang="en-GB" dirty="0"/>
              <a:t> Middle East generated the lowest revenue. </a:t>
            </a:r>
          </a:p>
          <a:p>
            <a:r>
              <a:rPr lang="en-GB" b="1" dirty="0"/>
              <a:t>Analysis</a:t>
            </a:r>
          </a:p>
          <a:p>
            <a:r>
              <a:rPr lang="en-GB" dirty="0"/>
              <a:t>Asian markets are currently the strongest contributors to business performance. Differences in regional revenue indicate varying levels of customer demand and purchasing power.</a:t>
            </a:r>
          </a:p>
          <a:p>
            <a:r>
              <a:rPr lang="en-GB" b="1" dirty="0"/>
              <a:t>Insight</a:t>
            </a:r>
          </a:p>
          <a:p>
            <a:r>
              <a:rPr lang="en-GB" dirty="0"/>
              <a:t>High-performing regions present opportunities for expansion, while underperforming regions require targeted growth strategies.</a:t>
            </a:r>
          </a:p>
          <a:p>
            <a:endParaRPr lang="en-IN" dirty="0"/>
          </a:p>
        </p:txBody>
      </p:sp>
    </p:spTree>
    <p:extLst>
      <p:ext uri="{BB962C8B-B14F-4D97-AF65-F5344CB8AC3E}">
        <p14:creationId xmlns:p14="http://schemas.microsoft.com/office/powerpoint/2010/main" val="3047945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F63CA-9EF8-F77B-7587-E002839547D6}"/>
              </a:ext>
            </a:extLst>
          </p:cNvPr>
          <p:cNvSpPr>
            <a:spLocks noGrp="1"/>
          </p:cNvSpPr>
          <p:nvPr>
            <p:ph type="title"/>
          </p:nvPr>
        </p:nvSpPr>
        <p:spPr/>
        <p:txBody>
          <a:bodyPr/>
          <a:lstStyle/>
          <a:p>
            <a:pPr algn="ctr"/>
            <a:r>
              <a:rPr lang="en-IN" dirty="0"/>
              <a:t>Return &amp; Refund Insights</a:t>
            </a:r>
          </a:p>
        </p:txBody>
      </p:sp>
      <p:sp>
        <p:nvSpPr>
          <p:cNvPr id="3" name="Content Placeholder 2">
            <a:extLst>
              <a:ext uri="{FF2B5EF4-FFF2-40B4-BE49-F238E27FC236}">
                <a16:creationId xmlns:a16="http://schemas.microsoft.com/office/drawing/2014/main" id="{E3E6AB6C-0D66-3D45-55C1-EC8F3B4B0C16}"/>
              </a:ext>
            </a:extLst>
          </p:cNvPr>
          <p:cNvSpPr>
            <a:spLocks noGrp="1"/>
          </p:cNvSpPr>
          <p:nvPr>
            <p:ph idx="1"/>
          </p:nvPr>
        </p:nvSpPr>
        <p:spPr/>
        <p:txBody>
          <a:bodyPr>
            <a:normAutofit lnSpcReduction="10000"/>
          </a:bodyPr>
          <a:lstStyle/>
          <a:p>
            <a:pPr algn="ctr"/>
            <a:r>
              <a:rPr lang="en-GB" b="1" dirty="0"/>
              <a:t>Regional Return Patterns</a:t>
            </a:r>
          </a:p>
          <a:p>
            <a:r>
              <a:rPr lang="en-GB" b="1" dirty="0"/>
              <a:t>Key Findings</a:t>
            </a:r>
          </a:p>
          <a:p>
            <a:pPr>
              <a:buFont typeface="Arial" panose="020B0604020202020204" pitchFamily="34" charset="0"/>
              <a:buChar char="•"/>
            </a:pPr>
            <a:r>
              <a:rPr lang="en-GB" dirty="0"/>
              <a:t> North America recorded the highest return rate. </a:t>
            </a:r>
          </a:p>
          <a:p>
            <a:pPr>
              <a:buFont typeface="Arial" panose="020B0604020202020204" pitchFamily="34" charset="0"/>
              <a:buChar char="•"/>
            </a:pPr>
            <a:r>
              <a:rPr lang="en-GB" dirty="0"/>
              <a:t> South America and Europe Central also showed elevated returns. </a:t>
            </a:r>
          </a:p>
          <a:p>
            <a:pPr>
              <a:buFont typeface="Arial" panose="020B0604020202020204" pitchFamily="34" charset="0"/>
              <a:buChar char="•"/>
            </a:pPr>
            <a:r>
              <a:rPr lang="en-GB" dirty="0"/>
              <a:t> Asia South recorded the lowest return rate. </a:t>
            </a:r>
          </a:p>
          <a:p>
            <a:r>
              <a:rPr lang="en-GB" b="1" dirty="0"/>
              <a:t>Analysis</a:t>
            </a:r>
          </a:p>
          <a:p>
            <a:r>
              <a:rPr lang="en-GB" dirty="0"/>
              <a:t>Customer return behavior varies significantly across regions. These differences may result from varying customer expectations, purchasing habits, or product-market fit.</a:t>
            </a:r>
          </a:p>
          <a:p>
            <a:r>
              <a:rPr lang="en-GB" b="1" dirty="0"/>
              <a:t>Insight</a:t>
            </a:r>
          </a:p>
          <a:p>
            <a:r>
              <a:rPr lang="en-GB" dirty="0"/>
              <a:t>Region-specific return reduction strategies may be more effective than a single global approach.</a:t>
            </a:r>
          </a:p>
          <a:p>
            <a:endParaRPr lang="en-IN" dirty="0"/>
          </a:p>
        </p:txBody>
      </p:sp>
    </p:spTree>
    <p:extLst>
      <p:ext uri="{BB962C8B-B14F-4D97-AF65-F5344CB8AC3E}">
        <p14:creationId xmlns:p14="http://schemas.microsoft.com/office/powerpoint/2010/main" val="1429379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AB213-9F7C-79F8-BC31-8258F808C93A}"/>
              </a:ext>
            </a:extLst>
          </p:cNvPr>
          <p:cNvSpPr>
            <a:spLocks noGrp="1"/>
          </p:cNvSpPr>
          <p:nvPr>
            <p:ph type="title"/>
          </p:nvPr>
        </p:nvSpPr>
        <p:spPr/>
        <p:txBody>
          <a:bodyPr/>
          <a:lstStyle/>
          <a:p>
            <a:pPr algn="ctr"/>
            <a:r>
              <a:rPr lang="en-GB" b="1" dirty="0"/>
              <a:t>Key Learnings from the Project</a:t>
            </a:r>
            <a:endParaRPr lang="en-IN" dirty="0"/>
          </a:p>
        </p:txBody>
      </p:sp>
      <p:sp>
        <p:nvSpPr>
          <p:cNvPr id="3" name="Content Placeholder 2">
            <a:extLst>
              <a:ext uri="{FF2B5EF4-FFF2-40B4-BE49-F238E27FC236}">
                <a16:creationId xmlns:a16="http://schemas.microsoft.com/office/drawing/2014/main" id="{5ADB88E9-BF3C-1380-B1D5-28C240B5F66A}"/>
              </a:ext>
            </a:extLst>
          </p:cNvPr>
          <p:cNvSpPr>
            <a:spLocks noGrp="1"/>
          </p:cNvSpPr>
          <p:nvPr>
            <p:ph idx="1"/>
          </p:nvPr>
        </p:nvSpPr>
        <p:spPr>
          <a:xfrm>
            <a:off x="1097280" y="1974688"/>
            <a:ext cx="10058400" cy="4023360"/>
          </a:xfrm>
        </p:spPr>
        <p:txBody>
          <a:bodyPr/>
          <a:lstStyle/>
          <a:p>
            <a:r>
              <a:rPr lang="en-GB" b="1" dirty="0"/>
              <a:t>What I Learned-</a:t>
            </a:r>
          </a:p>
          <a:p>
            <a:pPr>
              <a:buFont typeface="Arial" panose="020B0604020202020204" pitchFamily="34" charset="0"/>
              <a:buChar char="•"/>
            </a:pPr>
            <a:r>
              <a:rPr lang="en-GB" dirty="0"/>
              <a:t> SQL can be used to transform raw transactional data into meaningful business insights. </a:t>
            </a:r>
          </a:p>
          <a:p>
            <a:pPr>
              <a:buFont typeface="Arial" panose="020B0604020202020204" pitchFamily="34" charset="0"/>
              <a:buChar char="•"/>
            </a:pPr>
            <a:r>
              <a:rPr lang="en-GB" dirty="0"/>
              <a:t> Revenue analysis helps identify the most profitable categories and regions. </a:t>
            </a:r>
          </a:p>
          <a:p>
            <a:pPr>
              <a:buFont typeface="Arial" panose="020B0604020202020204" pitchFamily="34" charset="0"/>
              <a:buChar char="•"/>
            </a:pPr>
            <a:r>
              <a:rPr lang="en-GB" dirty="0"/>
              <a:t> Customer behavior metrics such as repeat purchase rate and CLV help measure customer loyalty. </a:t>
            </a:r>
          </a:p>
          <a:p>
            <a:pPr>
              <a:buFont typeface="Arial" panose="020B0604020202020204" pitchFamily="34" charset="0"/>
              <a:buChar char="•"/>
            </a:pPr>
            <a:r>
              <a:rPr lang="en-GB" dirty="0"/>
              <a:t> Product return analysis helps uncover hidden profitability challenges. </a:t>
            </a:r>
          </a:p>
          <a:p>
            <a:pPr>
              <a:buFont typeface="Arial" panose="020B0604020202020204" pitchFamily="34" charset="0"/>
              <a:buChar char="•"/>
            </a:pPr>
            <a:r>
              <a:rPr lang="en-GB" dirty="0"/>
              <a:t> Data-driven decision making can support business growth and operational improvements. </a:t>
            </a:r>
          </a:p>
          <a:p>
            <a:endParaRPr lang="en-IN" dirty="0"/>
          </a:p>
        </p:txBody>
      </p:sp>
    </p:spTree>
    <p:extLst>
      <p:ext uri="{BB962C8B-B14F-4D97-AF65-F5344CB8AC3E}">
        <p14:creationId xmlns:p14="http://schemas.microsoft.com/office/powerpoint/2010/main" val="39616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2B76-4F10-5EE2-4779-92ABFCB2DDC4}"/>
              </a:ext>
            </a:extLst>
          </p:cNvPr>
          <p:cNvSpPr>
            <a:spLocks noGrp="1"/>
          </p:cNvSpPr>
          <p:nvPr>
            <p:ph type="title"/>
          </p:nvPr>
        </p:nvSpPr>
        <p:spPr/>
        <p:txBody>
          <a:bodyPr/>
          <a:lstStyle/>
          <a:p>
            <a:pPr algn="ctr"/>
            <a:r>
              <a:rPr lang="en-GB" b="1" dirty="0"/>
              <a:t>Conclusion</a:t>
            </a:r>
            <a:endParaRPr lang="en-IN" b="1" dirty="0"/>
          </a:p>
        </p:txBody>
      </p:sp>
      <p:sp>
        <p:nvSpPr>
          <p:cNvPr id="3" name="Content Placeholder 2">
            <a:extLst>
              <a:ext uri="{FF2B5EF4-FFF2-40B4-BE49-F238E27FC236}">
                <a16:creationId xmlns:a16="http://schemas.microsoft.com/office/drawing/2014/main" id="{A1F9E03E-5F52-3880-1152-62406ACA90B4}"/>
              </a:ext>
            </a:extLst>
          </p:cNvPr>
          <p:cNvSpPr>
            <a:spLocks noGrp="1"/>
          </p:cNvSpPr>
          <p:nvPr>
            <p:ph idx="1"/>
          </p:nvPr>
        </p:nvSpPr>
        <p:spPr>
          <a:xfrm>
            <a:off x="1097280" y="1845734"/>
            <a:ext cx="10058400" cy="4402666"/>
          </a:xfrm>
        </p:spPr>
        <p:txBody>
          <a:bodyPr>
            <a:normAutofit fontScale="85000" lnSpcReduction="20000"/>
          </a:bodyPr>
          <a:lstStyle/>
          <a:p>
            <a:br>
              <a:rPr lang="en-GB" dirty="0"/>
            </a:br>
            <a:r>
              <a:rPr lang="en-GB" dirty="0"/>
              <a:t>The analysis reveals that the business is performing well, supported by strong customer loyalty, healthy average order values, and high-performing product categories. The company has built a valuable customer base and generates consistent revenue across multiple regions.</a:t>
            </a:r>
          </a:p>
          <a:p>
            <a:r>
              <a:rPr lang="en-GB" b="1" dirty="0"/>
              <a:t>Recommendations</a:t>
            </a:r>
          </a:p>
          <a:p>
            <a:pPr>
              <a:buFont typeface="Arial" panose="020B0604020202020204" pitchFamily="34" charset="0"/>
              <a:buChar char="•"/>
            </a:pPr>
            <a:r>
              <a:rPr lang="en-GB" dirty="0"/>
              <a:t> Focus marketing efforts on top-performing categories. </a:t>
            </a:r>
          </a:p>
          <a:p>
            <a:pPr>
              <a:buFont typeface="Arial" panose="020B0604020202020204" pitchFamily="34" charset="0"/>
              <a:buChar char="•"/>
            </a:pPr>
            <a:r>
              <a:rPr lang="en-GB" dirty="0"/>
              <a:t> Strengthen customer loyalty programs. </a:t>
            </a:r>
          </a:p>
          <a:p>
            <a:pPr>
              <a:buFont typeface="Arial" panose="020B0604020202020204" pitchFamily="34" charset="0"/>
              <a:buChar char="•"/>
            </a:pPr>
            <a:r>
              <a:rPr lang="en-GB" dirty="0"/>
              <a:t> Improve inventory planning for best-selling products. </a:t>
            </a:r>
          </a:p>
          <a:p>
            <a:pPr>
              <a:buFont typeface="Arial" panose="020B0604020202020204" pitchFamily="34" charset="0"/>
              <a:buChar char="•"/>
            </a:pPr>
            <a:r>
              <a:rPr lang="en-GB" dirty="0"/>
              <a:t> Investigate causes of high return rates in Footwear and Home categories. </a:t>
            </a:r>
          </a:p>
          <a:p>
            <a:pPr>
              <a:buFont typeface="Arial" panose="020B0604020202020204" pitchFamily="34" charset="0"/>
              <a:buChar char="•"/>
            </a:pPr>
            <a:r>
              <a:rPr lang="en-GB" dirty="0"/>
              <a:t> Expand operations in high-performing regions such as Asia East. </a:t>
            </a:r>
          </a:p>
          <a:p>
            <a:pPr>
              <a:buFont typeface="Arial" panose="020B0604020202020204" pitchFamily="34" charset="0"/>
              <a:buChar char="•"/>
            </a:pPr>
            <a:r>
              <a:rPr lang="en-GB" dirty="0"/>
              <a:t> Monitor high-return customers and regions more closely. </a:t>
            </a:r>
          </a:p>
          <a:p>
            <a:r>
              <a:rPr lang="en-GB" b="1" dirty="0"/>
              <a:t>Final Takeaway</a:t>
            </a:r>
          </a:p>
          <a:p>
            <a:r>
              <a:rPr lang="en-GB" dirty="0"/>
              <a:t>The business demonstrates strong growth potential, and by reducing return-related losses while continuing to nurture high-value customers, it can further improve profitability and long-term success.</a:t>
            </a:r>
          </a:p>
          <a:p>
            <a:endParaRPr lang="en-IN" dirty="0"/>
          </a:p>
        </p:txBody>
      </p:sp>
    </p:spTree>
    <p:extLst>
      <p:ext uri="{BB962C8B-B14F-4D97-AF65-F5344CB8AC3E}">
        <p14:creationId xmlns:p14="http://schemas.microsoft.com/office/powerpoint/2010/main" val="3518593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3438-25E7-BFE2-EDA0-A440199665A7}"/>
              </a:ext>
            </a:extLst>
          </p:cNvPr>
          <p:cNvSpPr>
            <a:spLocks noGrp="1"/>
          </p:cNvSpPr>
          <p:nvPr>
            <p:ph type="title"/>
          </p:nvPr>
        </p:nvSpPr>
        <p:spPr/>
        <p:txBody>
          <a:bodyPr>
            <a:normAutofit/>
          </a:bodyPr>
          <a:lstStyle/>
          <a:p>
            <a:pPr algn="ctr"/>
            <a:r>
              <a:rPr lang="en-GB" sz="8000" dirty="0"/>
              <a:t>Thank You</a:t>
            </a:r>
            <a:endParaRPr lang="en-IN" sz="8000" dirty="0"/>
          </a:p>
        </p:txBody>
      </p:sp>
      <p:sp>
        <p:nvSpPr>
          <p:cNvPr id="3" name="Content Placeholder 2">
            <a:extLst>
              <a:ext uri="{FF2B5EF4-FFF2-40B4-BE49-F238E27FC236}">
                <a16:creationId xmlns:a16="http://schemas.microsoft.com/office/drawing/2014/main" id="{1DC053FF-55B3-B847-F515-F215D1F2EBD3}"/>
              </a:ext>
            </a:extLst>
          </p:cNvPr>
          <p:cNvSpPr>
            <a:spLocks noGrp="1"/>
          </p:cNvSpPr>
          <p:nvPr>
            <p:ph idx="1"/>
          </p:nvPr>
        </p:nvSpPr>
        <p:spPr>
          <a:xfrm>
            <a:off x="1097280" y="2713242"/>
            <a:ext cx="10058400" cy="2292512"/>
          </a:xfrm>
        </p:spPr>
        <p:txBody>
          <a:bodyPr>
            <a:normAutofit/>
          </a:bodyPr>
          <a:lstStyle/>
          <a:p>
            <a:pPr algn="ctr"/>
            <a:r>
              <a:rPr lang="en-GB" sz="2400" b="1" dirty="0"/>
              <a:t>Questions &amp; Feedback Welcome</a:t>
            </a:r>
          </a:p>
          <a:p>
            <a:pPr algn="ctr"/>
            <a:r>
              <a:rPr lang="en-GB" sz="2400" b="1" dirty="0"/>
              <a:t>Rahul M Ramchandani</a:t>
            </a:r>
            <a:br>
              <a:rPr lang="en-GB" sz="2400" dirty="0"/>
            </a:br>
            <a:r>
              <a:rPr lang="en-GB" sz="2400" dirty="0"/>
              <a:t>Cohort 146</a:t>
            </a:r>
          </a:p>
          <a:p>
            <a:pPr algn="ctr"/>
            <a:endParaRPr lang="en-IN" sz="2400" dirty="0"/>
          </a:p>
        </p:txBody>
      </p:sp>
    </p:spTree>
    <p:extLst>
      <p:ext uri="{BB962C8B-B14F-4D97-AF65-F5344CB8AC3E}">
        <p14:creationId xmlns:p14="http://schemas.microsoft.com/office/powerpoint/2010/main" val="300381631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54</TotalTime>
  <Words>1239</Words>
  <Application>Microsoft Office PowerPoint</Application>
  <PresentationFormat>Widescreen</PresentationFormat>
  <Paragraphs>154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Retrospect</vt:lpstr>
      <vt:lpstr>E-Commerce Sales Analysis Using SQL</vt:lpstr>
      <vt:lpstr>Table of Contents</vt:lpstr>
      <vt:lpstr>OBJECTIVE</vt:lpstr>
      <vt:lpstr>General Sales Insights</vt:lpstr>
      <vt:lpstr>Monthly Revenue &amp; Sales Trend Analysis</vt:lpstr>
      <vt:lpstr>Revenue by Product Category</vt:lpstr>
      <vt:lpstr>Regional Order Size Analysis</vt:lpstr>
      <vt:lpstr>Customer Insights</vt:lpstr>
      <vt:lpstr>Customer Segmentation Analysis</vt:lpstr>
      <vt:lpstr>Top Customer Analysis</vt:lpstr>
      <vt:lpstr>Product Performance Analysis</vt:lpstr>
      <vt:lpstr>Product Return Analysis</vt:lpstr>
      <vt:lpstr>Regional Performance Analysis</vt:lpstr>
      <vt:lpstr>Return &amp; Refund Insights</vt:lpstr>
      <vt:lpstr>Key Learnings from the Project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ramchandani</dc:creator>
  <cp:lastModifiedBy>Rahul ramchandani</cp:lastModifiedBy>
  <cp:revision>62</cp:revision>
  <dcterms:created xsi:type="dcterms:W3CDTF">2026-06-23T07:19:38Z</dcterms:created>
  <dcterms:modified xsi:type="dcterms:W3CDTF">2026-06-23T08:14:33Z</dcterms:modified>
</cp:coreProperties>
</file>